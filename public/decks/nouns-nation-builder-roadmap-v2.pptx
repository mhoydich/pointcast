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3c5839a8374675" /><Relationship Type="http://schemas.openxmlformats.org/officeDocument/2006/relationships/extended-properties" Target="/docProps/app.xml" Id="Rcca0622525494fa4" /><Relationship Type="http://schemas.openxmlformats.org/officeDocument/2006/relationships/officeDocument" Target="/ppt/presentation.xml" Id="R28982cab56694e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d1d72a7d864fa3"/>
  </p:sldMasterIdLst>
  <p:notesMasterIdLst>
    <p:notesMasterId xmlns:r="http://schemas.openxmlformats.org/officeDocument/2006/relationships" r:id="R525c3120e2cd432d"/>
  </p:notesMasterIdLst>
  <p:sldIdLst>
    <p:sldId xmlns:r="http://schemas.openxmlformats.org/officeDocument/2006/relationships" id="256" r:id="Raacacc064f8b4615"/>
    <p:sldId xmlns:r="http://schemas.openxmlformats.org/officeDocument/2006/relationships" id="257" r:id="Rc076da2a8b7b4462"/>
    <p:sldId xmlns:r="http://schemas.openxmlformats.org/officeDocument/2006/relationships" id="258" r:id="R406ccbe30a3d4d86"/>
    <p:sldId xmlns:r="http://schemas.openxmlformats.org/officeDocument/2006/relationships" id="259" r:id="R9648d05e0df64e40"/>
    <p:sldId xmlns:r="http://schemas.openxmlformats.org/officeDocument/2006/relationships" id="260" r:id="R5f7a331664fd4195"/>
    <p:sldId xmlns:r="http://schemas.openxmlformats.org/officeDocument/2006/relationships" id="261" r:id="R934540b0773b4460"/>
    <p:sldId xmlns:r="http://schemas.openxmlformats.org/officeDocument/2006/relationships" id="262" r:id="R922070bacb724d02"/>
    <p:sldId xmlns:r="http://schemas.openxmlformats.org/officeDocument/2006/relationships" id="263" r:id="Ra7e2d75d7188449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2ff09d8e084ee3" /><Relationship Type="http://schemas.openxmlformats.org/officeDocument/2006/relationships/slideMaster" Target="/ppt/slideMasters/slideMaster1.xml" Id="Re6d1d72a7d864fa3" /><Relationship Type="http://schemas.openxmlformats.org/officeDocument/2006/relationships/notesMaster" Target="/ppt/notesMasters/notesMaster1.xml" Id="R525c3120e2cd432d" /><Relationship Type="http://schemas.openxmlformats.org/officeDocument/2006/relationships/presProps" Target="/ppt/presProps.xml" Id="R9285ca0662784d15" /><Relationship Type="http://schemas.openxmlformats.org/officeDocument/2006/relationships/tableStyles" Target="/ppt/tableStyles.xml" Id="R5d45079133004549" /><Relationship Type="http://schemas.openxmlformats.org/officeDocument/2006/relationships/slide" Target="/ppt/slides/slide1.xml" Id="Raacacc064f8b4615" /><Relationship Type="http://schemas.openxmlformats.org/officeDocument/2006/relationships/slide" Target="/ppt/slides/slide2.xml" Id="Rc076da2a8b7b4462" /><Relationship Type="http://schemas.openxmlformats.org/officeDocument/2006/relationships/slide" Target="/ppt/slides/slide3.xml" Id="R406ccbe30a3d4d86" /><Relationship Type="http://schemas.openxmlformats.org/officeDocument/2006/relationships/slide" Target="/ppt/slides/slide4.xml" Id="R9648d05e0df64e40" /><Relationship Type="http://schemas.openxmlformats.org/officeDocument/2006/relationships/slide" Target="/ppt/slides/slide5.xml" Id="R5f7a331664fd4195" /><Relationship Type="http://schemas.openxmlformats.org/officeDocument/2006/relationships/slide" Target="/ppt/slides/slide6.xml" Id="R934540b0773b4460" /><Relationship Type="http://schemas.openxmlformats.org/officeDocument/2006/relationships/slide" Target="/ppt/slides/slide7.xml" Id="R922070bacb724d02" /><Relationship Type="http://schemas.openxmlformats.org/officeDocument/2006/relationships/slide" Target="/ppt/slides/slide8.xml" Id="Ra7e2d75d718844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7c9a01d60746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b9e56062cf408e" /><Relationship Type="http://schemas.openxmlformats.org/officeDocument/2006/relationships/notesMaster" Target="/ppt/notesMasters/notesMaster1.xml" Id="Rd02250da335b45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5180583bc34aea" /><Relationship Type="http://schemas.openxmlformats.org/officeDocument/2006/relationships/notesMaster" Target="/ppt/notesMasters/notesMaster1.xml" Id="Ree6f84602f9a41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3343e7e72745c5" /><Relationship Type="http://schemas.openxmlformats.org/officeDocument/2006/relationships/notesMaster" Target="/ppt/notesMasters/notesMaster1.xml" Id="R66ed772df0ee4a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438a048ebe4213" /><Relationship Type="http://schemas.openxmlformats.org/officeDocument/2006/relationships/notesMaster" Target="/ppt/notesMasters/notesMaster1.xml" Id="Re8244360d61745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41f402b774419e" /><Relationship Type="http://schemas.openxmlformats.org/officeDocument/2006/relationships/notesMaster" Target="/ppt/notesMasters/notesMaster1.xml" Id="R66d2ecb49d6f4c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e8c67ec4744a26" /><Relationship Type="http://schemas.openxmlformats.org/officeDocument/2006/relationships/notesMaster" Target="/ppt/notesMasters/notesMaster1.xml" Id="Rb11034b4440647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b22a3a46f4432f" /><Relationship Type="http://schemas.openxmlformats.org/officeDocument/2006/relationships/notesMaster" Target="/ppt/notesMasters/notesMaster1.xml" Id="Rf3a42a03693548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7ab465406349bf" /><Relationship Type="http://schemas.openxmlformats.org/officeDocument/2006/relationships/notesMaster" Target="/ppt/notesMasters/notesMaster1.xml" Id="R33cc440bacf048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b3fe6247d4d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b7e9f6f4184258" /><Relationship Type="http://schemas.openxmlformats.org/officeDocument/2006/relationships/slideLayout" Target="/ppt/slideLayouts/slideLayout1.xml" Id="R0f8e56c55bee41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8e56c55bee41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daa717d6b480f" /><Relationship Type="http://schemas.openxmlformats.org/officeDocument/2006/relationships/image" Target="/ppt/media/image.png" Id="Rfade16c0830143d4" /><Relationship Type="http://schemas.openxmlformats.org/officeDocument/2006/relationships/notesSlide" Target="/ppt/notesSlides/notesSlide1.xml" Id="Rbfd70b5ee2cc48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51668a7c04bac" /><Relationship Type="http://schemas.openxmlformats.org/officeDocument/2006/relationships/notesSlide" Target="/ppt/notesSlides/notesSlide2.xml" Id="R58e51d0510e042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d9bdaffb84a0e" /><Relationship Type="http://schemas.openxmlformats.org/officeDocument/2006/relationships/notesSlide" Target="/ppt/notesSlides/notesSlide3.xml" Id="R33a97f65bb6948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ba41c5f464d73" /><Relationship Type="http://schemas.openxmlformats.org/officeDocument/2006/relationships/image" Target="/ppt/media/image2.png" Id="Rea8a2e6a0cc34268" /><Relationship Type="http://schemas.openxmlformats.org/officeDocument/2006/relationships/notesSlide" Target="/ppt/notesSlides/notesSlide4.xml" Id="R397a8a0b9b884f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303c24fbf476d" /><Relationship Type="http://schemas.openxmlformats.org/officeDocument/2006/relationships/image" Target="/ppt/media/image3.png" Id="R215629daf56842bb" /><Relationship Type="http://schemas.openxmlformats.org/officeDocument/2006/relationships/notesSlide" Target="/ppt/notesSlides/notesSlide5.xml" Id="Ra72f4b79022f43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2a703925448fb" /><Relationship Type="http://schemas.openxmlformats.org/officeDocument/2006/relationships/image" Target="/ppt/media/image4.png" Id="Ra4f466d50a574036" /><Relationship Type="http://schemas.openxmlformats.org/officeDocument/2006/relationships/notesSlide" Target="/ppt/notesSlides/notesSlide6.xml" Id="R4b1d6a6862e242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6fb1fa1e94d7a" /><Relationship Type="http://schemas.openxmlformats.org/officeDocument/2006/relationships/notesSlide" Target="/ppt/notesSlides/notesSlide7.xml" Id="Rc2413a5e14fd45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b66ba920c40f4" /><Relationship Type="http://schemas.openxmlformats.org/officeDocument/2006/relationships/image" Target="/ppt/media/image5.png" Id="Rd803f8614ea54edb" /><Relationship Type="http://schemas.openxmlformats.org/officeDocument/2006/relationships/notesSlide" Target="/ppt/notesSlides/notesSlide8.xml" Id="Re01974c2a2fe4a8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background">
            <a:extLst xmlns:a="http://schemas.openxmlformats.org/drawingml/2006/main">
              <a:ext uri="{FF2B5EF4-FFF2-40B4-BE49-F238E27FC236}">
                <a16:creationId xmlns:a16="http://schemas.microsoft.com/office/drawing/2014/main" id="{3E583449-0BA3-4E0E-9A48-9A94C500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CEEB8-160B-4721-AC35-F61FDA18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7635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E19A8"/>
                </a:solidFill>
              </a:defRPr>
            </a:pPr>
            <a:r>
              <a:t>ROADMAP V2 / APRIL 29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E6863-7645-4147-9FCC-56B51EC8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8648700" cy="27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850" b="1">
                <a:solidFill>
                  <a:srgbClr val="12110E"/>
                </a:solidFill>
              </a:defRPr>
            </a:pPr>
            <a:r>
              <a:t>NOUNS NATION BUILDER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F1459-4C2D-4502-B174-8DF77BDF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11125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5F5E5A"/>
                </a:solidFill>
              </a:defRPr>
            </a:pPr>
            <a:r>
              <a:t>Browser room -&gt; agent broadcast -&gt; TV league -&gt; live final.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F6B54-F716-4330-A5CA-F4C45E80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685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F"/>
          </a:solidFill>
          <a:ln xmlns:a="http://schemas.openxmlformats.org/drawingml/2006/main" w="0">
            <a:solidFill>
              <a:srgbClr val="D7FF3F"/>
            </a:solidFill>
            <a:prstDash val="solid"/>
          </a:ln>
        </p:spPr>
      </p:sp>
      <p:pic>
        <p:nvPicPr>
          <p:cNvPr id="12" name="battle-stri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e16c0830143d4"/>
          <a:srcRect xmlns:a="http://schemas.openxmlformats.org/drawingml/2006/main" l="0" t="32020" r="0" b="32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6457950"/>
            <a:ext cx="16649700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40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hesis-background">
            <a:extLst xmlns:a="http://schemas.openxmlformats.org/drawingml/2006/main">
              <a:ext uri="{FF2B5EF4-FFF2-40B4-BE49-F238E27FC236}">
                <a16:creationId xmlns:a16="http://schemas.microsoft.com/office/drawing/2014/main" id="{D285A8CB-5ECB-4833-9F2B-92B08D35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C3EB0-D887-4A17-8076-5162BFB3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866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E19A8"/>
                </a:solidFill>
              </a:defRPr>
            </a:pPr>
            <a:r>
              <a:t>INVESTMENT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47316-8605-41F8-9D9C-047A562D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8667750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12110E"/>
                </a:solidFill>
              </a:defRPr>
            </a:pPr>
            <a:r>
              <a:t>Buy the venue, not just the game.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66B9D-5397-4421-A51E-53AD016A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73914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5F5E5A"/>
                </a:solidFill>
              </a:defRPr>
            </a:pPr>
            <a:r>
              <a:t>The wedge is a live, AI-readable sports and culture venue where humans root, agents scout, and every output becomes a reusable artifact.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D01B5-2D11-4978-A34C-57DE9F54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404" y="3623310"/>
            <a:ext cx="7378446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1804C-11C9-461C-AA45-1A764478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33800"/>
            <a:ext cx="702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10E"/>
                </a:solidFill>
              </a:defRPr>
            </a:pPr>
            <a:r>
              <a:t>1. Browser room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8057F-7116-461C-98A9-4CB086DF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404" y="4297680"/>
            <a:ext cx="7378446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27322-51FE-4436-9BBD-F4BF912A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419600"/>
            <a:ext cx="702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10E"/>
                </a:solidFill>
              </a:defRPr>
            </a:pPr>
            <a:r>
              <a:t>2. Living-room TV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88CB3-8AFD-40EB-974B-0829D7A6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404" y="4972050"/>
            <a:ext cx="7378446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38745-DE59-4CDE-A0F5-354096D9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086350"/>
            <a:ext cx="702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10E"/>
                </a:solidFill>
              </a:defRPr>
            </a:pPr>
            <a:r>
              <a:t>3. Partner venues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2F537-7D32-4F1F-A4A1-117B8A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404" y="5646420"/>
            <a:ext cx="7378446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EB221-5865-4CA7-8C40-D250AC42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753100"/>
            <a:ext cx="702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10E"/>
                </a:solidFill>
              </a:defRPr>
            </a:pPr>
            <a:r>
              <a:t>4. Ticketed final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70A49-279F-43E0-9D7B-8B4DF3CB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24600"/>
            <a:ext cx="7372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F5E5A"/>
                </a:solidFill>
              </a:defRPr>
            </a:pPr>
            <a:r>
              <a:t>Fund the venue. Prove the ritual. Delay the token.</a:t>
            </a:r>
          </a:p>
        </p:txBody>
      </p:sp>
    </p:spTree>
    <p:extLst>
      <p:ext uri="{BB962C8B-B14F-4D97-AF65-F5344CB8AC3E}">
        <p14:creationId xmlns:p14="http://schemas.microsoft.com/office/powerpoint/2010/main" val="16351229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i-curve-background">
            <a:extLst xmlns:a="http://schemas.openxmlformats.org/drawingml/2006/main">
              <a:ext uri="{FF2B5EF4-FFF2-40B4-BE49-F238E27FC236}">
                <a16:creationId xmlns:a16="http://schemas.microsoft.com/office/drawing/2014/main" id="{3E42A756-B217-4AF1-A34C-B47A7E30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73C5A-F1A9-4408-BAE9-5E42C1FF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E19A8"/>
                </a:solidFill>
              </a:defRPr>
            </a:pPr>
            <a:r>
              <a:t>AI TOOL CURVE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C05F8-A690-4E7D-A164-528991A5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166497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2110E"/>
                </a:solidFill>
              </a:defRPr>
            </a:pPr>
            <a:r>
              <a:t>Small teams can now operate like media control rooms.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54059-51A0-4524-BB16-8FB70BCD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2340"/>
            <a:ext cx="5372100" cy="5253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50E6F-558C-4D02-AEF6-B817319C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4838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8333F"/>
                </a:solidFill>
              </a:defRPr>
            </a:pPr>
            <a:r>
              <a:t>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98730-8DE3-40A4-BC22-208678BE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9650"/>
            <a:ext cx="4838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110E"/>
                </a:solidFill>
              </a:defRPr>
            </a:pPr>
            <a:r>
              <a:t>Agent-native production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1C0F4-7274-435F-A764-994DFD1B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86400"/>
            <a:ext cx="48387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F5E5A"/>
                </a:solidFill>
              </a:defRPr>
            </a:pPr>
            <a:r>
              <a:t>Agents inspect repos, edit files, run commands, call MCP tools, and produce artifacts.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18CAB-C386-47A5-9F07-585CFC9F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82340"/>
            <a:ext cx="5372100" cy="5253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62890-98FB-42D1-8677-CAA20CC0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4838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316FDD"/>
                </a:solidFill>
              </a:defRPr>
            </a:pPr>
            <a:r>
              <a:t>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1B120-57FB-4EA6-8067-39D85AE7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19650"/>
            <a:ext cx="4838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110E"/>
                </a:solidFill>
              </a:defRPr>
            </a:pPr>
            <a:r>
              <a:t>Distributed media ops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9DEEB-BD0D-4C86-A578-7E8F685E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86400"/>
            <a:ext cx="48387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F5E5A"/>
                </a:solidFill>
              </a:defRPr>
            </a:pPr>
            <a:r>
              <a:t>Remote MCP and coding agents let partner nodes run standardized nights with local identity.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646A1-D978-45E2-B74B-51188843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482340"/>
            <a:ext cx="5372100" cy="5253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FE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12435-A75B-439D-8F32-C7C4FB11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752850"/>
            <a:ext cx="4838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4E19A8"/>
                </a:solidFill>
              </a:defRPr>
            </a:pPr>
            <a:r>
              <a:t>2028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E53EC-E5D2-4C54-ABE3-B13572C7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819650"/>
            <a:ext cx="48387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110E"/>
                </a:solidFill>
              </a:defRPr>
            </a:pPr>
            <a:r>
              <a:t>Physical-world show surface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30835-9674-43D4-AF7C-655C91B9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943600"/>
            <a:ext cx="48387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F5E5A"/>
                </a:solidFill>
              </a:defRPr>
            </a:pPr>
            <a:r>
              <a:t>Bespoke media formats become cheap enough to rehearse, localize, and package for venues.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B99CB-1960-4C73-8BA7-59B6D3AD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5E5A"/>
                </a:solidFill>
              </a:defRPr>
            </a:pPr>
            <a:r>
              <a:t>OpenAI Agents SDK, Anthropic MCP, Cloudflare remote MCP, and GitHub Copilot coding agent are the tooling assumptions.</a:t>
            </a:r>
          </a:p>
        </p:txBody>
      </p:sp>
    </p:spTree>
    <p:extLst>
      <p:ext uri="{BB962C8B-B14F-4D97-AF65-F5344CB8AC3E}">
        <p14:creationId xmlns:p14="http://schemas.microsoft.com/office/powerpoint/2010/main" val="6151241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year-2026-background">
            <a:extLst xmlns:a="http://schemas.openxmlformats.org/drawingml/2006/main">
              <a:ext uri="{FF2B5EF4-FFF2-40B4-BE49-F238E27FC236}">
                <a16:creationId xmlns:a16="http://schemas.microsoft.com/office/drawing/2014/main" id="{A4DBAC8A-D6F0-43B0-B823-4E714357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6F99C-D452-4F46-A073-E2191EDA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E19A8"/>
                </a:solidFill>
              </a:defRPr>
            </a:pPr>
            <a:r>
              <a:t>YEAR 1 /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F332F-C928-49C6-87AA-1CFFFF57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53340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0" b="1">
                <a:solidFill>
                  <a:srgbClr val="12110E"/>
                </a:solidFill>
              </a:defRPr>
            </a:pPr>
            <a:r>
              <a:t>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C11F7-AF20-436C-B869-E48ADA62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40386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10E"/>
                </a:solidFill>
              </a:defRPr>
            </a:pPr>
            <a:r>
              <a:t>Prove the weekly ritual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63F3A-4BD8-46D8-A50E-0DCAC1E7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4514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5E5A"/>
                </a:solidFill>
              </a:defRPr>
            </a:pPr>
            <a:r>
              <a:t>Make the league room worth returning to every week.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5A715-FA98-4042-96D6-42441CC8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572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333F"/>
                </a:solidFill>
              </a:defRPr>
            </a:pPr>
            <a:r>
              <a:t>SURFACES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2C143-7CB5-4825-AC43-FE52EC8B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57250"/>
            <a:ext cx="914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110E"/>
                </a:solidFill>
              </a:defRPr>
            </a:pPr>
            <a:r>
              <a:t>Hub, TV cast, V3 desk, agent bench, roadmap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F94C0-7B97-44AC-BE74-D06E09F3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71600"/>
            <a:ext cx="914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5E5A"/>
                </a:solidFill>
              </a:defRPr>
            </a:pPr>
            <a:r>
              <a:t>The public product must feel like a venue with a schedule, not a pile of prototypes.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F7850-272E-441F-AA05-01EE58C5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333F"/>
                </a:solidFill>
              </a:defRPr>
            </a:pPr>
            <a: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B2D3B-F78C-400C-B209-C3D4E2C9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914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110E"/>
                </a:solidFill>
              </a:defRPr>
            </a:pPr>
            <a:r>
              <a:t>Agent desk and twelve watch nights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5966C-7BDC-4B17-91AD-B3C9F2C7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9144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5E5A"/>
                </a:solidFill>
              </a:defRPr>
            </a:pPr>
            <a:r>
              <a:t>Scout, host, commentator, QA, and scorekeeper jobs create useful artifacts every slate.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EB0E8-918D-4F04-A240-9000E916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333F"/>
                </a:solidFill>
              </a:defRPr>
            </a:pPr>
            <a:r>
              <a:t>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C7E8B-AEEF-4E87-B750-8CF1EF6C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914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110E"/>
                </a:solidFill>
              </a:defRPr>
            </a:pPr>
            <a:r>
              <a:t>Repeat viewing plus sponsor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9354D-AE8F-45D5-BC21-8A25480E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48250"/>
            <a:ext cx="9144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5E5A"/>
                </a:solidFill>
              </a:defRPr>
            </a:pPr>
            <a:r>
              <a:t>Twelve watch nights, three sponsor or grant tests, and a visible cohort returning across slates.</a:t>
            </a:r>
          </a:p>
        </p:txBody>
      </p:sp>
      <p:pic>
        <p:nvPicPr>
          <p:cNvPr id="30" name="year-2026-receip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a2e6a0cc34268"/>
          <a:srcRect xmlns:a="http://schemas.openxmlformats.org/drawingml/2006/main" l="0" t="34200" r="0" b="34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6838950"/>
            <a:ext cx="1664970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4445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year-2027-background">
            <a:extLst xmlns:a="http://schemas.openxmlformats.org/drawingml/2006/main">
              <a:ext uri="{FF2B5EF4-FFF2-40B4-BE49-F238E27FC236}">
                <a16:creationId xmlns:a16="http://schemas.microsoft.com/office/drawing/2014/main" id="{B34A0077-2A08-4C52-89B0-A7A874DD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E5F6A-DEB2-4FC7-86C9-B83A564D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E19A8"/>
                </a:solidFill>
              </a:defRPr>
            </a:pPr>
            <a:r>
              <a:t>YEAR 2 / 2027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CFB96-66A1-4402-9876-69FF1BAF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53340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0" b="1">
                <a:solidFill>
                  <a:srgbClr val="12110E"/>
                </a:solidFill>
              </a:defRPr>
            </a:pPr>
            <a:r>
              <a:t>2027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AFEDA-ACA3-4BD6-847C-3FFEC9AE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44577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10E"/>
                </a:solidFill>
              </a:defRPr>
            </a:pPr>
            <a:r>
              <a:t>Syndicate the broadcast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AB83A-629F-4C79-8BBA-6565792A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4572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5E5A"/>
                </a:solidFill>
              </a:defRPr>
            </a:pPr>
            <a:r>
              <a:t>Turn one desk into a repeatable local and partner format.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06CF4-F836-4B1B-B36F-491BE27E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572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333F"/>
                </a:solidFill>
              </a:defRPr>
            </a:pPr>
            <a:r>
              <a:t>SURFACES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4251C-4989-439B-BC3A-C01300B6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57250"/>
            <a:ext cx="914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110E"/>
                </a:solidFill>
              </a:defRPr>
            </a:pPr>
            <a:r>
              <a:t>City nodes and venue watch kits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90AB2-DB57-4D1C-B05A-B8A29F1B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71600"/>
            <a:ext cx="914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5E5A"/>
                </a:solidFill>
              </a:defRPr>
            </a:pPr>
            <a:r>
              <a:t>Bars, campuses, chapters, shops, and clubs get a local kit without losing identity.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E29BC-FAD6-4C1F-9F9F-C479BBD4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333F"/>
                </a:solidFill>
              </a:defRPr>
            </a:pPr>
            <a: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83D62-3F31-44C2-804E-2D6F82D6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914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110E"/>
                </a:solidFill>
              </a:defRPr>
            </a:pPr>
            <a:r>
              <a:t>Federated manifests and sponsor inventory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70F0B-40CE-4741-BE59-4369755C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9144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5E5A"/>
                </a:solidFill>
              </a:defRPr>
            </a:pPr>
            <a:r>
              <a:t>Local rules, rosters, results, sponsor reads, and recaps publish into the same envelope.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9C27A-5194-42D6-87C1-958C9330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333F"/>
                </a:solidFill>
              </a:defRPr>
            </a:pPr>
            <a:r>
              <a:t>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2D51E-1EDD-4C5D-BEA4-5F16D280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914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110E"/>
                </a:solidFill>
              </a:defRPr>
            </a:pPr>
            <a:r>
              <a:t>Four partner nodes, two to four sponsors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90ACB-8708-4B07-9738-74F845FE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48250"/>
            <a:ext cx="9144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5E5A"/>
                </a:solidFill>
              </a:defRPr>
            </a:pPr>
            <a:r>
              <a:t>The target is 1,000-plus weekly viewers, treated as an operating milestone rather than a promise.</a:t>
            </a:r>
          </a:p>
        </p:txBody>
      </p:sp>
      <p:pic>
        <p:nvPicPr>
          <p:cNvPr id="30" name="year-2027-receip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629daf56842bb"/>
          <a:srcRect xmlns:a="http://schemas.openxmlformats.org/drawingml/2006/main" l="0" t="34200" r="0" b="34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6838950"/>
            <a:ext cx="1664970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33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year-2028-background">
            <a:extLst xmlns:a="http://schemas.openxmlformats.org/drawingml/2006/main">
              <a:ext uri="{FF2B5EF4-FFF2-40B4-BE49-F238E27FC236}">
                <a16:creationId xmlns:a16="http://schemas.microsoft.com/office/drawing/2014/main" id="{5C325FA5-92A1-4B20-81E1-E236F932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A0AF4-8D2A-4286-BDCD-1E430B01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E19A8"/>
                </a:solidFill>
              </a:defRPr>
            </a:pPr>
            <a:r>
              <a:t>YEAR 3 / 2028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8FB15-B74E-4F4B-BF61-1A54DF80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53340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0" b="1">
                <a:solidFill>
                  <a:srgbClr val="12110E"/>
                </a:solidFill>
              </a:defRPr>
            </a:pPr>
            <a:r>
              <a:t>2028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8E2F7-9948-447B-B436-987F6CA4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38862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110E"/>
                </a:solidFill>
              </a:defRPr>
            </a:pPr>
            <a:r>
              <a:t>Package the live 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C5512-D036-4FA3-9237-694C92E3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4514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5E5A"/>
                </a:solidFill>
              </a:defRPr>
            </a:pPr>
            <a:r>
              <a:t>Make a browser-native sport legible on a stage or stadium board.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FDC8D-9D15-4EA5-BD76-28E99CF0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572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333F"/>
                </a:solidFill>
              </a:defRPr>
            </a:pPr>
            <a:r>
              <a:t>SURFACES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4D2D6-24A4-45C4-B9A8-F0022AC4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57250"/>
            <a:ext cx="914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110E"/>
                </a:solidFill>
              </a:defRPr>
            </a:pPr>
            <a:r>
              <a:t>Flagship final and ticketed stream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A2448-2325-4B34-9D29-802B7EA9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71600"/>
            <a:ext cx="9144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5E5A"/>
                </a:solidFill>
              </a:defRPr>
            </a:pPr>
            <a:r>
              <a:t>The show has a live host, agent desk, crowd screen, recap studio, and sponsor rhythm.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3B76B-1093-4292-8B9E-5F4D71AA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333F"/>
                </a:solidFill>
              </a:defRPr>
            </a:pPr>
            <a: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E011D-DAC5-4E44-9B10-326B7409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05100"/>
            <a:ext cx="914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110E"/>
                </a:solidFill>
              </a:defRPr>
            </a:pPr>
            <a:r>
              <a:t>Venue AV runbook and licensing kit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237F6-43B1-465D-B420-84A53423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00400"/>
            <a:ext cx="9144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5E5A"/>
                </a:solidFill>
              </a:defRPr>
            </a:pPr>
            <a:r>
              <a:t>The format needs scoreboard graphics, QR handoffs, sponsor reads, and a repeatable operator guide.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61923-9C4C-43B3-8183-E4CA1323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333F"/>
                </a:solidFill>
              </a:defRPr>
            </a:pPr>
            <a:r>
              <a:t>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F0AA9-C3F0-439C-BEA4-FC30CECE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9144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110E"/>
                </a:solidFill>
              </a:defRPr>
            </a:pPr>
            <a:r>
              <a:t>Ten venue partners and break-even season economics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BFDF8-2699-4382-B641-A0ACD40E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86400"/>
            <a:ext cx="914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5E5A"/>
                </a:solidFill>
              </a:defRPr>
            </a:pPr>
            <a:r>
              <a:t>The stadium idea only matters once partner venues already want the package.</a:t>
            </a:r>
          </a:p>
        </p:txBody>
      </p:sp>
      <p:pic>
        <p:nvPicPr>
          <p:cNvPr id="30" name="year-2028-receip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466d50a574036"/>
          <a:srcRect xmlns:a="http://schemas.openxmlformats.org/drawingml/2006/main" l="0" t="34200" r="0" b="34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6838950"/>
            <a:ext cx="1664970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02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apital-gates-background">
            <a:extLst xmlns:a="http://schemas.openxmlformats.org/drawingml/2006/main">
              <a:ext uri="{FF2B5EF4-FFF2-40B4-BE49-F238E27FC236}">
                <a16:creationId xmlns:a16="http://schemas.microsoft.com/office/drawing/2014/main" id="{079A8637-9B57-476D-8C46-1E0B35C7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23FB7-88F1-41AB-AE0C-BF5C17EC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16649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E19A8"/>
                </a:solidFill>
              </a:defRPr>
            </a:pPr>
            <a:r>
              <a:t>CAPITAL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5081B-B7ED-4A50-99D6-3EDC0EC8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166497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2110E"/>
                </a:solidFill>
              </a:defRPr>
            </a:pPr>
            <a:r>
              <a:t>Tranche the money to proof, not vibes.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8E774-BF47-4ECE-958A-31EECB8F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381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333F"/>
                </a:solidFill>
              </a:defRPr>
            </a:pPr>
            <a:r>
              <a:t>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1C11E-CC75-463A-BE65-19CF2AD1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2667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333F"/>
                </a:solidFill>
              </a:defRPr>
            </a:pPr>
            <a:r>
              <a:t>AMOUNT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C16C1-AEE0-45F8-A283-DADEF1C2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111823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333F"/>
                </a:solidFill>
              </a:defRPr>
            </a:pPr>
            <a:r>
              <a:t>UNLOCK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92A11-2E43-4E77-A668-69188E60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23812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10E"/>
                </a:solidFill>
              </a:defRPr>
            </a:pPr>
            <a:r>
              <a:t>Seed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E38D0-84C9-42C2-B1C2-65BEFED8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24250"/>
            <a:ext cx="2667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10E"/>
                </a:solidFill>
              </a:defRPr>
            </a:pPr>
            <a:r>
              <a:t>$50k-$75k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E73C4-D1A1-4F53-8A14-3BEFA1C2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11182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F5E5A"/>
                </a:solidFill>
              </a:defRPr>
            </a:pPr>
            <a:r>
              <a:t>Ninety days of product proof: watch nights, agent loop, analytics, and sponsor collateral.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08355-D9A7-4E68-BEF6-3DD5E622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2381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10E"/>
                </a:solidFill>
              </a:defRPr>
            </a:pPr>
            <a:r>
              <a:t>Production tranche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D3A62-CEAB-48F5-BA74-375D1881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7680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10E"/>
                </a:solidFill>
              </a:defRPr>
            </a:pPr>
            <a:r>
              <a:t>Up to $250k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85CCB-17B2-4879-B11A-13989AF0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76800"/>
            <a:ext cx="111823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F5E5A"/>
                </a:solidFill>
              </a:defRPr>
            </a:pPr>
            <a:r>
              <a:t>Released after repeat viewing, useful agent output, and one sponsor or ecosystem partner.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EA3FE-4027-42A0-8DCD-677F0774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29400"/>
            <a:ext cx="2381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10E"/>
                </a:solidFill>
              </a:defRPr>
            </a:pPr>
            <a:r>
              <a:t>Broadcast tranche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63D10-1F26-452F-8617-0F4D8E06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62940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10E"/>
                </a:solidFill>
              </a:defRPr>
            </a:pPr>
            <a:r>
              <a:t>Milestone priced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91855-94F4-4EB4-B7E9-CE9110D7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29400"/>
            <a:ext cx="111823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F5E5A"/>
                </a:solidFill>
              </a:defRPr>
            </a:pPr>
            <a:r>
              <a:t>Only after partner venues want the format and the runbook is repeatable.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F805C-595E-490B-8A4F-CF28A716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0"/>
            <a:ext cx="23812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10E"/>
                </a:solidFill>
              </a:defRPr>
            </a:pPr>
            <a:r>
              <a:t>Onchain 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435D3-0E00-4BBD-89E8-98E3085A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8382000"/>
            <a:ext cx="2667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10E"/>
                </a:solidFill>
              </a:defRPr>
            </a:pPr>
            <a:r>
              <a:t>Counsel-gated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8962D-135C-4F60-B08F-299E5295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0"/>
            <a:ext cx="11182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F5E5A"/>
                </a:solidFill>
              </a:defRPr>
            </a:pPr>
            <a:r>
              <a:t>Builder DAO or token comes after legal review, audience proof, and clean governance claims.</a:t>
            </a:r>
          </a:p>
        </p:txBody>
      </p:sp>
    </p:spTree>
    <p:extLst>
      <p:ext uri="{BB962C8B-B14F-4D97-AF65-F5344CB8AC3E}">
        <p14:creationId xmlns:p14="http://schemas.microsoft.com/office/powerpoint/2010/main" val="20430591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sk-background">
            <a:extLst xmlns:a="http://schemas.openxmlformats.org/drawingml/2006/main">
              <a:ext uri="{FF2B5EF4-FFF2-40B4-BE49-F238E27FC236}">
                <a16:creationId xmlns:a16="http://schemas.microsoft.com/office/drawing/2014/main" id="{A92785D0-FBA9-4C38-8ED2-56C08F11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293AE-2FA2-476A-BBA1-8BBF0295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E19A8"/>
                </a:solidFill>
              </a:defRPr>
            </a:pPr>
            <a:r>
              <a:t>NEXT 90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86478-671C-412D-A2A3-C6611748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7239000" cy="281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2110E"/>
                </a:solidFill>
              </a:defRPr>
            </a:pPr>
            <a:r>
              <a:t>Write the first check into the ritual.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BD748-BB14-4633-AA94-C672A82F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72200"/>
            <a:ext cx="69342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5F5E5A"/>
                </a:solidFill>
              </a:defRPr>
            </a:pPr>
            <a:r>
              <a:t>$50k-$75k funds the venue proof. Expansion waits for retention, useful agent output, and one sponsor or grant partner.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1B845-73D6-44E2-BC17-042A56E7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81900"/>
            <a:ext cx="533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F"/>
          </a:solidFill>
          <a:ln xmlns:a="http://schemas.openxmlformats.org/drawingml/2006/main" w="0">
            <a:solidFill>
              <a:srgbClr val="D7FF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3672D-B558-4108-9ACF-7C99C67F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3" y="2788920"/>
            <a:ext cx="885348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8950B-90AE-4A95-BF96-E946C4D3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9560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10E"/>
                </a:solidFill>
              </a:defRPr>
            </a:pPr>
            <a:r>
              <a:t>Days 1-30: slate, recaps, link circuit, viewer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B45ED-0C66-4272-B22E-5DB65F41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3" y="3501390"/>
            <a:ext cx="885348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A2280-D3AC-4091-A958-C693CE11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10E"/>
                </a:solidFill>
              </a:defRPr>
            </a:pPr>
            <a:r>
              <a:t>Days 31-60: operator bench, scorekeeper, sponsor 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E22F2-29ED-440A-B59D-4AC042C9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3" y="4213860"/>
            <a:ext cx="885348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DC521-735B-4186-AA72-6FBDF438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2435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110E"/>
                </a:solidFill>
              </a:defRPr>
            </a:pPr>
            <a:r>
              <a:t>Days 61-90: paid or grant-backed season test</a:t>
            </a:r>
          </a:p>
        </p:txBody>
      </p:sp>
      <p:pic>
        <p:nvPicPr>
          <p:cNvPr id="24" name="ask-battle-receip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3f8614ea54edb"/>
          <a:srcRect xmlns:a="http://schemas.openxmlformats.org/drawingml/2006/main" l="0" t="22335" r="0" b="223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5363" y="4926330"/>
            <a:ext cx="8853488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28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2026-07-25T18:04:32.0400000Z</dcterms:created>
  <dcterms:modified xsi:type="dcterms:W3CDTF">2026-07-25T18:04:32.0400000Z</dcterms:modified>
</coreProperties>
</file>